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463040"/>
            <a:ext cx="109728" cy="3291840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9875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38BDF8"/>
                </a:solidFill>
              </a:defRPr>
            </a:pPr>
            <a:r>
              <a:t>OPERATING SYSTEMS &amp; DISTRIBUTED SYSTEMS CAPSTONE PROJECT</a:t>
            </a:r>
          </a:p>
          <a:p>
            <a:pPr>
              <a:spcAft>
                <a:spcPts val="600"/>
              </a:spcAft>
              <a:defRPr sz="4400" b="1">
                <a:solidFill>
                  <a:srgbClr val="FFFFFF"/>
                </a:solidFill>
              </a:defRPr>
            </a:pPr>
            <a:r>
              <a:t>NEXUS-OS</a:t>
            </a:r>
          </a:p>
          <a:p>
            <a:pPr>
              <a:spcAft>
                <a:spcPts val="2200"/>
              </a:spcAft>
              <a:defRPr sz="2000">
                <a:solidFill>
                  <a:srgbClr val="22C55E"/>
                </a:solidFill>
              </a:defRPr>
            </a:pPr>
            <a:r>
              <a:t>An Educational Distributed Operating System for Campus Lab Clusters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</a:rPr>
              <a:t>•  Aggregates idle campus computers into a unified, high-throughput compute cluster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</a:rPr>
              <a:t>•  Implements kernel scheduling, deadlock handling, virtual paging, and distributed DFS from scratch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</a:rPr>
              <a:t>•  Provides real-time web telemetry for live cluster monitoring and algorithm inspection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E2E8F0"/>
                </a:solidFill>
              </a:rPr>
              <a:t>•  Developed and presented by Four-Member Engineering Team |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MOTIVATION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Transforming Idle Campus Hardware into a Cluster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Focus: Resource Aggregation, Cluster Workload Balancing &amp; Single-System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The Campus Problem: </a:t>
            </a:r>
            <a:r>
              <a:rPr b="0" sz="1600">
                <a:solidFill>
                  <a:srgbClr val="E2E8F0"/>
                </a:solidFill>
              </a:rPr>
              <a:t>College computer labs have dozens of dual/quad-core PCs that remain idle for over 60% of the day while computationally intensive student tasks wait in line.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Industrial Limitation: </a:t>
            </a:r>
            <a:r>
              <a:rPr b="0" sz="1600">
                <a:solidFill>
                  <a:srgbClr val="E2E8F0"/>
                </a:solidFill>
              </a:rPr>
              <a:t>Existing production systems like Kubernetes or Slurm require heavy enterprise setup, high memory overhead, and hide low-level OS algorithms from learners.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The NEXUS-OS Solution: </a:t>
            </a:r>
            <a:r>
              <a:rPr b="0" sz="1600">
                <a:solidFill>
                  <a:srgbClr val="E2E8F0"/>
                </a:solidFill>
              </a:rPr>
              <a:t>We built a lightweight, educational distributed operating system that unifies separate lab workstations into a single cooperative compute cluster.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Single System Image: </a:t>
            </a:r>
            <a:r>
              <a:rPr b="0" sz="1600">
                <a:solidFill>
                  <a:srgbClr val="E2E8F0"/>
                </a:solidFill>
              </a:rPr>
              <a:t>Students submit jobs to one central interface without needing to know which physical machine actually executes their code.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Core Engineering Objective: </a:t>
            </a:r>
            <a:r>
              <a:rPr b="0" sz="1600">
                <a:solidFill>
                  <a:srgbClr val="E2E8F0"/>
                </a:solidFill>
              </a:rPr>
              <a:t>Provide a reliable, live-demonstrable platform that translates textbook operating systems theory into real, running software.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NEXUS-OS eliminates lab hardware waste by coordinating idle machines as one shared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Two-Tier Master-Worker Cluster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Focus: Coordinator-Worker Topology, RPC Communication &amp; Global State Synchronization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Central Coordinator: </a:t>
            </a:r>
            <a:r>
              <a:rPr b="0" sz="1600">
                <a:solidFill>
                  <a:srgbClr val="E2E8F0"/>
                </a:solidFill>
              </a:rPr>
              <a:t>Acts as the cluster master. Exposes REST APIs, manages global process queues, executes Banker's algorithm, and tracks active worker nodes.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Worker Nodes (Node 1, Node 2, Node 3): </a:t>
            </a:r>
            <a:r>
              <a:rPr b="0" sz="1600">
                <a:solidFill>
                  <a:srgbClr val="E2E8F0"/>
                </a:solidFill>
              </a:rPr>
              <a:t>Independent worker daemons running on separate lab machines that pull assigned tasks, execute them, and stream back results.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Heartbeat Failure Detector: </a:t>
            </a:r>
            <a:r>
              <a:rPr b="0" sz="1600">
                <a:solidFill>
                  <a:srgbClr val="E2E8F0"/>
                </a:solidFill>
              </a:rPr>
              <a:t>Each worker transmits heartbeats every 10 seconds. The Coordinator flags any silent node after a 30-second timeout threshold.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Real-Time Telemetry: </a:t>
            </a:r>
            <a:r>
              <a:rPr b="0" sz="1600">
                <a:solidFill>
                  <a:srgbClr val="E2E8F0"/>
                </a:solidFill>
              </a:rPr>
              <a:t>Uses Server-Sent Events (SSE) and asynchronous polling to stream live cluster state, CPU loads, and logs directly to the dashboard.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Decoupled Design: </a:t>
            </a:r>
            <a:r>
              <a:rPr b="0" sz="1600">
                <a:solidFill>
                  <a:srgbClr val="E2E8F0"/>
                </a:solidFill>
              </a:rPr>
              <a:t>Workers can join, leave, or restart dynamically without crashing the coordinator or terminating active cluster management.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Clear separation between global coordination (Master) and distributed task execution (Workers).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1: PROCESS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Distributed CPU Scheduling &amp; Process Control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Concepts: Process Control Block (PCB), Preemption, Time Slicing &amp; Starvation Prevention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Process Control Block (PCB): </a:t>
            </a:r>
            <a:r>
              <a:rPr b="0" sz="1600">
                <a:solidFill>
                  <a:srgbClr val="E2E8F0"/>
                </a:solidFill>
              </a:rPr>
              <a:t>NEXUS-OS assigns every job a full PCB tracking PID, state, arrival time, burst time, remaining time, priority, and assigned node.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Deterministic Task States: </a:t>
            </a:r>
            <a:r>
              <a:rPr b="0" sz="1600">
                <a:solidFill>
                  <a:srgbClr val="E2E8F0"/>
                </a:solidFill>
              </a:rPr>
              <a:t>Enforces strict finite-state-machine transitions: WAITING -&gt; RUNNING -&gt; COMPLETED (or FAILED on error).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6 Implemented Policies: </a:t>
            </a:r>
            <a:r>
              <a:rPr b="0" sz="1600">
                <a:solidFill>
                  <a:srgbClr val="E2E8F0"/>
                </a:solidFill>
              </a:rPr>
              <a:t>Supports FCFS, Shortest Job First (SJF), Shortest Remaining Time First (SRTF), Round Robin (Quantum = 4), and Priority Scheduling.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Priority with Aging: </a:t>
            </a:r>
            <a:r>
              <a:rPr b="0" sz="1600">
                <a:solidFill>
                  <a:srgbClr val="E2E8F0"/>
                </a:solidFill>
              </a:rPr>
              <a:t>Low-priority tasks automatically gain priority over time while waiting in queue, mathematically preventing process starvation under heavy load.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Explainable Execution Trace: </a:t>
            </a:r>
            <a:r>
              <a:rPr b="0" sz="1600">
                <a:solidFill>
                  <a:srgbClr val="E2E8F0"/>
                </a:solidFill>
              </a:rPr>
              <a:t>A live dashboard audit log explains exactly why the scheduler picked each task (e.g. quantum expired, shorter remaining burst, priority promotion).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Tasks transition through validated PCB states with starvation prevention and explainable scheduling.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2: RESOURCE ALLOCATION &amp; DEADLOCKS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Banker's Algorithm &amp; Wait-For Graph Recovery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Concepts: Dijkstra's Banker's Algorithm, Circular Wait Detection &amp; Victim Preemption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Multi-Resource Tracking: </a:t>
            </a:r>
            <a:r>
              <a:rPr b="0" sz="1600">
                <a:solidFill>
                  <a:srgbClr val="E2E8F0"/>
                </a:solidFill>
              </a:rPr>
              <a:t>Coordinates shared cluster hardware across three distinct resource vectors: CPU Cores, Memory Blocks, and GPU Slices.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Banker's Algorithm (Avoidance): </a:t>
            </a:r>
            <a:r>
              <a:rPr b="0" sz="1600">
                <a:solidFill>
                  <a:srgbClr val="E2E8F0"/>
                </a:solidFill>
              </a:rPr>
              <a:t>Before allocating requested resources, the Coordinator calculates whether a safe sequence exists using the condition Need &lt;= Available.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Unsafe Request Handling: </a:t>
            </a:r>
            <a:r>
              <a:rPr b="0" sz="1600">
                <a:solidFill>
                  <a:srgbClr val="E2E8F0"/>
                </a:solidFill>
              </a:rPr>
              <a:t>If granting a request could lead to a deadlock, the allocator safely rejects or defers the request to preserve system stability.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Wait-For Graph (Detection): </a:t>
            </a:r>
            <a:r>
              <a:rPr b="0" sz="1600">
                <a:solidFill>
                  <a:srgbClr val="E2E8F0"/>
                </a:solidFill>
              </a:rPr>
              <a:t>Maintains a live directed graph where nodes represent processes and directed edges represent blocked resource dependencies.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Cycle Detection &amp; Recovery: </a:t>
            </a:r>
            <a:r>
              <a:rPr b="0" sz="1600">
                <a:solidFill>
                  <a:srgbClr val="E2E8F0"/>
                </a:solidFill>
              </a:rPr>
              <a:t>Runs depth-first search to detect circular wait cycles, automatically terminates the optimal victim process, and reclaims resources to break the deadlock.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Combines proactive deadlock avoidance (Banker's) with reactive cycle detection and recovery (WFG).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3: MEMORY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Virtual Paging Subsystem &amp; Belady's Anomaly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Concepts: Virtual Memory, Page Frame Allocation, FIFO vs LRU &amp; Belady's Anomaly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Virtual Paging Simulation: </a:t>
            </a:r>
            <a:r>
              <a:rPr b="0" sz="1600">
                <a:solidFill>
                  <a:srgbClr val="E2E8F0"/>
                </a:solidFill>
              </a:rPr>
              <a:t>Models memory frame allocations (3, 4, or 5 physical frames) against incoming page reference strings submitted by cluster tasks.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Page Replacement Policies: </a:t>
            </a:r>
            <a:r>
              <a:rPr b="0" sz="1600">
                <a:solidFill>
                  <a:srgbClr val="E2E8F0"/>
                </a:solidFill>
              </a:rPr>
              <a:t>Implements First-In First-Out (FIFO), Least Recently Used (LRU), and Optimal Page Replacement (Belady's Min Algorithm) for benchmark comparison.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Belady's Anomaly Proof: </a:t>
            </a:r>
            <a:r>
              <a:rPr b="0" sz="1600">
                <a:solidFill>
                  <a:srgbClr val="E2E8F0"/>
                </a:solidFill>
              </a:rPr>
              <a:t>Our dashboard interactively demonstrates that giving FIFO more memory frames (increasing from 3 to 4) can paradoxically increase page faults from 9 to 10.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Stack Algorithm Comparison: </a:t>
            </a:r>
            <a:r>
              <a:rPr b="0" sz="1600">
                <a:solidFill>
                  <a:srgbClr val="E2E8F0"/>
                </a:solidFill>
              </a:rPr>
              <a:t>Proves why LRU never experiences Belady's Anomaly because its set of resident pages in m frames is always a strict subset of m+1 frames.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Lab Cluster Impact: </a:t>
            </a:r>
            <a:r>
              <a:rPr b="0" sz="1600">
                <a:solidFill>
                  <a:srgbClr val="E2E8F0"/>
                </a:solidFill>
              </a:rPr>
              <a:t>Demonstrates the practical necessity of LRU caching to prevent thrashing and minimize expensive disk swap operations across cluster nodes.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Interactively proves Belady's Anomaly on FIFO and validates why LRU stack caching prevents thrashing.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4: DISTRIBUTED SYNCHRONIZATION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Ricart-Agrawala Mutual Exclusion &amp; Leases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Concepts: Lamport Logical Clocks, Distributed Critical Section &amp; Fault-Tolerant Leases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The Concurrency Problem: </a:t>
            </a:r>
            <a:r>
              <a:rPr b="0" sz="1600">
                <a:solidFill>
                  <a:srgbClr val="E2E8F0"/>
                </a:solidFill>
              </a:rPr>
              <a:t>Multiple independent worker nodes must safely access shared hardware and critical sections without a centralized bottleneck or race conditions.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Ricart-Agrawala Algorithm: </a:t>
            </a:r>
            <a:r>
              <a:rPr b="0" sz="1600">
                <a:solidFill>
                  <a:srgbClr val="E2E8F0"/>
                </a:solidFill>
              </a:rPr>
              <a:t>Workers broadcast timestamped request messages to all peers; entry into the critical section is granted only when all peers acknowledge.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Optimal Message Complexity: </a:t>
            </a:r>
            <a:r>
              <a:rPr b="0" sz="1600">
                <a:solidFill>
                  <a:srgbClr val="E2E8F0"/>
                </a:solidFill>
              </a:rPr>
              <a:t>Achieves distributed mutual exclusion with exactly 2(N - 1) network messages per critical section entry.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Lamport Logical Timestamps: </a:t>
            </a:r>
            <a:r>
              <a:rPr b="0" sz="1600">
                <a:solidFill>
                  <a:srgbClr val="E2E8F0"/>
                </a:solidFill>
              </a:rPr>
              <a:t>Breaks concurrent access ties deterministically by comparing message timestamps and unique node identifiers.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Crash-Resilient Leases: </a:t>
            </a:r>
            <a:r>
              <a:rPr b="0" sz="1600">
                <a:solidFill>
                  <a:srgbClr val="E2E8F0"/>
                </a:solidFill>
              </a:rPr>
              <a:t>Protects against node failure during execution: if a node crashes inside the critical section, its time-bounded lease expires and releases the lock automatically.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Guarantees distributed mutual exclusion using 2(N-1) messages with lease timeouts to prevent orphan locks.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5: DISTRIBUTED STORAGE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Fault-Tolerant Block Distributed File System (DFS)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Concepts: Block Chunking, Pipeline Replication, SHA-256 Scrubbing &amp; Vector Clocks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64 KB Block Chunking: </a:t>
            </a:r>
            <a:r>
              <a:rPr b="0" sz="1600">
                <a:solidFill>
                  <a:srgbClr val="E2E8F0"/>
                </a:solidFill>
              </a:rPr>
              <a:t>Files uploaded to NEXUS-OS are split into uniform 64 KB binary blocks and scattered across physical worker nodes to balance disk usage.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2x Pipeline Replication: </a:t>
            </a:r>
            <a:r>
              <a:rPr b="0" sz="1600">
                <a:solidFill>
                  <a:srgbClr val="E2E8F0"/>
                </a:solidFill>
              </a:rPr>
              <a:t>Every block is stored on a primary worker and replicated to a secondary worker, ensuring files remain fully readable even if any one node crashes.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SHA-256 Data Scrubbing: </a:t>
            </a:r>
            <a:r>
              <a:rPr b="0" sz="1600">
                <a:solidFill>
                  <a:srgbClr val="E2E8F0"/>
                </a:solidFill>
              </a:rPr>
              <a:t>A background integrity scrubber continuously verifies cryptographic checksums to detect and repair silent disk corruption and bitrot.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Vector Clocks for Concurrency: </a:t>
            </a:r>
            <a:r>
              <a:rPr b="0" sz="1600">
                <a:solidFill>
                  <a:srgbClr val="E2E8F0"/>
                </a:solidFill>
              </a:rPr>
              <a:t>Each file block maintains a vector timestamp across nodes to identify and flag conflicting simultaneous writes without data loss.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High Availability: </a:t>
            </a:r>
            <a:r>
              <a:rPr b="0" sz="1600">
                <a:solidFill>
                  <a:srgbClr val="E2E8F0"/>
                </a:solidFill>
              </a:rPr>
              <a:t>Files can be uploaded, listed, and reconstructed seamlessly through the dashboard with zero single-point-of-failure in the storage layer.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Implements block chunking and 2x replication so student files survive individual disk and node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MODULE 6: FAULT TOLERANCE &amp; NETWORKING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Node Crash Recovery &amp; IPC Micro-Benchmarks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OSDS Concepts: Heartbeat Failure Detectors, Dynamic Task Migration &amp; Kernel IPC vs Shared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397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3-State Failure Detector: </a:t>
            </a:r>
            <a:r>
              <a:rPr b="0" sz="1600">
                <a:solidFill>
                  <a:srgbClr val="E2E8F0"/>
                </a:solidFill>
              </a:rPr>
              <a:t>The Coordinator continuously tracks worker node health across states: ONLINE -&gt; SUSPECT -&gt; OFFLINE based on missed heartbeats.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Automated Task Migration: </a:t>
            </a:r>
            <a:r>
              <a:rPr b="0" sz="1600">
                <a:solidFill>
                  <a:srgbClr val="E2E8F0"/>
                </a:solidFill>
              </a:rPr>
              <a:t>When a worker failure is detected, the Coordinator stops routing jobs to it and migrates all in-flight tasks to surviving healthy nodes.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Live Node Recovery: </a:t>
            </a:r>
            <a:r>
              <a:rPr b="0" sz="1600">
                <a:solidFill>
                  <a:srgbClr val="E2E8F0"/>
                </a:solidFill>
              </a:rPr>
              <a:t>When an offline worker reconnects, the system resynchronizes state, marks the node healthy (3/3 Online), and redistributes the cluster workload.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Sockets vs Shared Memory: </a:t>
            </a:r>
            <a:r>
              <a:rPr b="0" sz="1600">
                <a:solidFill>
                  <a:srgbClr val="E2E8F0"/>
                </a:solidFill>
              </a:rPr>
              <a:t>Benchmarks demonstrate that POSIX Shared Memory achieves lower latency by avoiding kernel buffer copies and context switches required by TCP Sockets.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b="1" sz="1600">
                <a:solidFill>
                  <a:srgbClr val="38BDF8"/>
                </a:solidFill>
              </a:rPr>
              <a:t>•  TCP-JSON vs gRPC HTTP/2: </a:t>
            </a:r>
            <a:r>
              <a:rPr b="0" sz="1600">
                <a:solidFill>
                  <a:srgbClr val="E2E8F0"/>
                </a:solidFill>
              </a:rPr>
              <a:t>Evaluates serialization overhead: binary Protocol Buffers over multiplexed HTTP/2 deliver superior throughput compared to text JSON streams.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BBF24"/>
                </a:solidFill>
              </a:defRPr>
            </a:pPr>
            <a:r>
              <a:t>KEY TAKEAWAY: Demonstrates live node crash handling with task migration, verified by IPC latency benchmarks.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38BDF8"/>
                </a:solidFill>
              </a:defRPr>
            </a:pPr>
            <a:r>
              <a:t>PROJECT EVALUATION &amp;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10515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Engineering Deliverables &amp; Conclusion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280160"/>
            <a:ext cx="10545775" cy="4983480"/>
          </a:xfrm>
          <a:prstGeom prst="roundRect">
            <a:avLst/>
          </a:prstGeom>
          <a:solidFill>
            <a:srgbClr val="141E34"/>
          </a:solidFill>
          <a:ln w="19050">
            <a:solidFill>
              <a:srgbClr val="2637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54480"/>
            <a:ext cx="98142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22C55E"/>
                </a:solidFill>
              </a:defRPr>
            </a:pPr>
            <a:r>
              <a:t>Summary of Capstone Achievements | NEXUS-OS Distributed Cluster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9814255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</a:rPr>
              <a:t>•  Full-Stack Distributed OS: </a:t>
            </a:r>
            <a:r>
              <a:rPr b="0" sz="1600">
                <a:solidFill>
                  <a:srgbClr val="E2E8F0"/>
                </a:solidFill>
              </a:rPr>
              <a:t>Successfully designed, coded, and deployed a working 4-node cluster (1 Coordinator + 3 Workers) with a live web dashboard.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</a:rPr>
              <a:t>•  10 OSDS Modules Implemented: </a:t>
            </a:r>
            <a:r>
              <a:rPr b="0" sz="1600">
                <a:solidFill>
                  <a:srgbClr val="E2E8F0"/>
                </a:solidFill>
              </a:rPr>
              <a:t>Integrated process scheduling, deadlock avoidance, WFG recovery, virtual memory paging, Ricart-Agrawala, and replicated DFS into one unified system.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</a:rPr>
              <a:t>•  Real Algorithms, Zero Mock Data: </a:t>
            </a:r>
            <a:r>
              <a:rPr b="0" sz="1600">
                <a:solidFill>
                  <a:srgbClr val="E2E8F0"/>
                </a:solidFill>
              </a:rPr>
              <a:t>Every metric, state transition, and heartbeat reflects genuine algorithmic execution across our backend APIs.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38BDF8"/>
                </a:solidFill>
              </a:rPr>
              <a:t>•  Resilience &amp; Verification: </a:t>
            </a:r>
            <a:r>
              <a:rPr b="0" sz="1600">
                <a:solidFill>
                  <a:srgbClr val="E2E8F0"/>
                </a:solidFill>
              </a:rPr>
              <a:t>Proven reliability under simulated node crashes, in-flight task migration, and heavy burst scheduling workloads.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4892040"/>
            <a:ext cx="9814255" cy="105156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Thank You!</a:t>
            </a:r>
          </a:p>
          <a:p>
            <a:pPr algn="ctr">
              <a:defRPr sz="1400">
                <a:solidFill>
                  <a:srgbClr val="38BDF8"/>
                </a:solidFill>
              </a:defRPr>
            </a:pPr>
            <a:r>
              <a:t>We welcome your questions and evaluation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