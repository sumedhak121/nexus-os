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9728" cy="292608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OPERATING SYSTEMS &amp; DISTRIBUTED SYSTEMS (OSDS) CAPSTONE PROJECT</a:t>
            </a:r>
          </a:p>
          <a:p>
            <a:pPr>
              <a:spcAft>
                <a:spcPts val="400"/>
              </a:spcAft>
              <a:defRPr sz="4400" b="1">
                <a:solidFill>
                  <a:srgbClr val="FFFFFF"/>
                </a:solidFill>
              </a:defRPr>
            </a:pPr>
            <a:r>
              <a:t>NEXUS-OS</a:t>
            </a:r>
          </a:p>
          <a:p>
            <a:pPr>
              <a:spcAft>
                <a:spcPts val="2000"/>
              </a:spcAft>
              <a:defRPr sz="2000">
                <a:solidFill>
                  <a:srgbClr val="CBD5E1"/>
                </a:solidFill>
              </a:defRPr>
            </a:pPr>
            <a:r>
              <a:t>An Educational Distributed Operating System for a Campus Lab Cluster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Academic Review &amp; Project Evaluation | Third-Year Computer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10728655" cy="137160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937760"/>
            <a:ext cx="102714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Architecture &amp; Implementation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• Centralized Coordinator Control Plane (:9000) &amp; 3 Worker Workstations (:9001, :9002, :9003)</a:t>
            </a:r>
            <a:br/>
            <a:r>
              <a:t>• Mini Slurm (CPU Scheduling) + Mini HDFS (Block Storage) + Mini Dropbox (Collaborative Vector Sync)</a:t>
            </a:r>
            <a:br/>
            <a:r>
              <a:t>• 76/76 Unit Tests Passed · Production Web Control Center (:8080) · Live Cloud Deployment on Render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ARCHITECTURE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Problem Statement &amp; Campus Lab Cluster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The Problem in Academic Lab Clusters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Compute Resource Contention: </a:t>
            </a:r>
            <a:r>
              <a:rPr b="0" sz="1150">
                <a:solidFill>
                  <a:srgbClr val="94A3B8"/>
                </a:solidFill>
              </a:rPr>
              <a:t>Uncoordinated student jobs cause starvation, unbounded wait times, and system crashes.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Deadlock in Multi-Resource Access: </a:t>
            </a:r>
            <a:r>
              <a:rPr b="0" sz="1150">
                <a:solidFill>
                  <a:srgbClr val="94A3B8"/>
                </a:solidFill>
              </a:rPr>
              <a:t>Concurrent execution without admission control leads to circular wait deadlocks across memory, cores, and I/O.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Data Divergence &amp; Bit Rot: </a:t>
            </a:r>
            <a:r>
              <a:rPr b="0" sz="1150">
                <a:solidFill>
                  <a:srgbClr val="94A3B8"/>
                </a:solidFill>
              </a:rPr>
              <a:t>Shared laboratory datasets are easily overwritten, corrupted, or lost upon single-disk failure.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Wall-Clock Drift: </a:t>
            </a:r>
            <a:r>
              <a:rPr b="0" sz="1150">
                <a:solidFill>
                  <a:srgbClr val="94A3B8"/>
                </a:solidFill>
              </a:rPr>
              <a:t>Physical workstation clock differences make distributed event debugging and causality analysis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NEXUS-OS Distributed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Centralized Coordinator (:9000): </a:t>
            </a:r>
            <a:r>
              <a:rPr b="0" sz="1150">
                <a:solidFill>
                  <a:srgbClr val="94A3B8"/>
                </a:solidFill>
              </a:rPr>
              <a:t>Authoritative control plane hosting scheduler, Banker's admission control, DFS catalog, and lock manager.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3 Dedicated Worker Nodes (:9001-:9003): </a:t>
            </a:r>
            <a:r>
              <a:rPr b="0" sz="1150">
                <a:solidFill>
                  <a:srgbClr val="94A3B8"/>
                </a:solidFill>
              </a:rPr>
              <a:t>Execute dispatched compute tasks, store 64 KB block replicas, and maintain in-memory caches.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Live Web Control Center (:8080): </a:t>
            </a:r>
            <a:r>
              <a:rPr b="0" sz="1150">
                <a:solidFill>
                  <a:srgbClr val="94A3B8"/>
                </a:solidFill>
              </a:rPr>
              <a:t>Real-time single-page dashboard rendering cluster PCB, Gantt chart, WFG, and fault controls.</a:t>
            </a:r>
          </a:p>
          <a:p>
            <a:pPr>
              <a:spcAft>
                <a:spcPts val="200"/>
              </a:spcAft>
              <a:defRPr b="1" sz="1200">
                <a:solidFill>
                  <a:srgbClr val="FFFFFF"/>
                </a:solidFill>
              </a:defRPr>
            </a:pPr>
            <a:r>
              <a:t>• Single-Command Deployment: </a:t>
            </a:r>
            <a:r>
              <a:rPr b="0" sz="1150">
                <a:solidFill>
                  <a:srgbClr val="94A3B8"/>
                </a:solidFill>
              </a:rPr>
              <a:t>Complete 5-process cluster launches via `python app.py` across commodity lab hardware with zero external cloud dependencies.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THEORETICAL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Core OSDS Concepts &amp; Production Systems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Single-Node OS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10896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CPU Scheduling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FCFS, SJF, SRTF, RR, Priority+Aging algorithms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Process Control Block (PCB)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Task states, context switching, PID management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Deadlock Prevention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Dijkstra's Banker's Algorithm admission safety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Memory &amp; Paging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FIFO, LRU, Optimal page replacement &amp; Belady's Anomaly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Classical Concurrency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Semaphores, Mutex, Readers-Writers, Dining Philosophers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Distributed Systems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10896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Cluster Coordination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Centralized control plane, heartbeat failure detection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Logical &amp; Vector Clocks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Lamport total ordering &amp; Fidge-Mattern causality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Mutual Exclusion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Ricart-Agrawala 2(N-1) peer-to-peer RPC protocol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Distributed Storage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Block chunking, 2x pipeline replication, SHA-256 scrubbing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Optimistic Concurrency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Versioned file editing &amp; Vector Clock conflict resolution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63040"/>
            <a:ext cx="347472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6459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Real-World Industrial Parallels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2011680"/>
            <a:ext cx="310896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Slurm Workload Manager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Cluster batch job dispatching &amp; heavy-tailed traces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Apache Hadoop HDFS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NameNode/DataNode architecture &amp; 64 KB block placement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Dropbox Sync Engine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Chunk delta transfers, rsync algorithm &amp; conflicted copies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Google Chubby / ZooKeeper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Named resource leases &amp; failover lease revocation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Linux Cgroups &amp; POSIX</a:t>
            </a:r>
            <a:br/>
            <a:r>
              <a:t>  </a:t>
            </a:r>
            <a:r>
              <a:rPr b="0" sz="1000">
                <a:solidFill>
                  <a:srgbClr val="94A3B8"/>
                </a:solidFill>
              </a:rPr>
              <a:t>Memory quota limits &amp; zero-copy shared memory IPC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PROCESS MANAGEMENT &amp;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CPU Scheduling Algorithms &amp; Explainable Execution Trace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Implemented Scheduling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FCFS (First-Come, First-Served): </a:t>
            </a:r>
            <a:r>
              <a:rPr b="0" sz="1050">
                <a:solidFill>
                  <a:srgbClr val="94A3B8"/>
                </a:solidFill>
              </a:rPr>
              <a:t>Simple FIFO ready queue dispatch. Non-preemptive.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SJF (Shortest Job First): </a:t>
            </a:r>
            <a:r>
              <a:rPr b="0" sz="1050">
                <a:solidFill>
                  <a:srgbClr val="94A3B8"/>
                </a:solidFill>
              </a:rPr>
              <a:t>Dispatches lowest remaining burst. Minimizes average wait time.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SRTF (Shortest Remaining Time First): </a:t>
            </a:r>
            <a:r>
              <a:rPr b="0" sz="1050">
                <a:solidFill>
                  <a:srgbClr val="94A3B8"/>
                </a:solidFill>
              </a:rPr>
              <a:t>Preemptive variant of SJF. Preempts when shorter job arrives.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Priority Scheduling: </a:t>
            </a:r>
            <a:r>
              <a:rPr b="0" sz="1050">
                <a:solidFill>
                  <a:srgbClr val="94A3B8"/>
                </a:solidFill>
              </a:rPr>
              <a:t>Dispatches highest priority jobs. Susceptible to starvation.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Priority + Aging: </a:t>
            </a:r>
            <a:r>
              <a:rPr b="0" sz="1050">
                <a:solidFill>
                  <a:srgbClr val="94A3B8"/>
                </a:solidFill>
              </a:rPr>
              <a:t>Increases priority over wait intervals. Starvation-free guarantee.</a:t>
            </a:r>
          </a:p>
          <a:p>
            <a:pPr>
              <a:spcAft>
                <a:spcPts val="200"/>
              </a:spcAft>
              <a:defRPr b="1" sz="1100">
                <a:solidFill>
                  <a:srgbClr val="FFFFFF"/>
                </a:solidFill>
              </a:defRPr>
            </a:pPr>
            <a:r>
              <a:t>• Round Robin (RR): </a:t>
            </a:r>
            <a:r>
              <a:rPr b="0" sz="1050">
                <a:solidFill>
                  <a:srgbClr val="94A3B8"/>
                </a:solidFill>
              </a:rPr>
              <a:t>Preemptive time-slicing (Quantum Q=2). Fair CPU share across jobs.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PCB Table &amp; Explainable Execution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Factual Task Lifecycle: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Tasks progress strictly through valid states: WAITING → RUNNING → COMPLETED / FAILED. Real node load increments on start, decrements on finish.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Explainable Execution Trace ('Why this happened'):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Deterministic justification engine explaining why each job was selected (e.g. 'P1 ran first because arrival T=0 under FCFS', 'P2 preempted P1 under SRTF with remaining burst 3 &lt; 4').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Live PCB Process Control Blocks: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Inspect PID, Assigned Node, Burst, Priority, State badge, and live control actions (Pause, Resume, Kill).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Measured vs Predicted Metrics: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Evaluates theoretical simulator predictions against actual cluster execution timestamps with Real Gantt chart visualization.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DEADLOCK AVOIDANCE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Banker's Algorithm &amp; Wait-For Graph (WFG) Cycle Recovery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Deadlock Avoidance: Banker's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Dijkstra's Admission Control: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Pre-allocates model resources (R1: CPU Cores, R2: Memory Frames, R3: I/O Channels) safely.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Safety Criterion Check: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Need[i][j] = Max[i][j] - Allocation[i][j]. Requests evaluated against Work and Available vectors.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Safe vs Unsafe State Distinction: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If granting a request preserves a safe sequence (e.g. P1 → P3 → P4 → P0 → P2), it is GRANTED. If granting leaves insufficient resources, it is DENIED.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Live Matrix Visualization: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Interactive UI displays Allocation, Max, Need matrices, and Available Vector with textbook initial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Deadlock Detection &amp; Victim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Directed Wait-For Graph (WFG):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Directed edge Pi → Pj indicates Pi is blocked waiting for a resource or lock held by Pj. Cycles signify deadlock.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Cycle Detection Engine: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Detects Circular Wait (P1 → P2 → P3 → P1) and dual independent cycles instantly.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Victim Selection Policies: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Picks optimal victim process according to 3 resource reclamation policies: Youngest Process, Least Work Done, Lowest Priority.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Cycle Breaking &amp; Recovery: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Terminating victim immediately releases dependencies, transitions WFG to safe green acyclic state, and logs recovery with Lamport timestamp.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MEMORY &amp; PAGING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Page Replacement Simulator &amp; Belady's Anomaly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Page Replacement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FIFO (First-In, First-Out):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Evicts the oldest page brought into physical memory frames. Simple queue implementation.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LRU (Least Recently Used):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Evicts the page unused for the longest interval. Approximates optimal replacement using temporal locality.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Optimal (OPT / MIN):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Evicts the page that will not be accessed for the longest time in future. Serves as theoretical performance upper bound.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Step-by-Step Frame Inspection: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Visual table displays exact resident pages per step, marking page hits (green) and page faults (red).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Belady's Anomaly &amp; Distributed Block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Belady's Anomaly Demonstration: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Using canonical reference string [1, 2, 3, 4, 1, 2, 5, 1, 2, 3, 4, 5]: FIFO page faults increase from 9 (3 frames) to 10 (4 frames) when given more memory!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Stack Algorithm Contrast: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Proves that stack algorithms (LRU, Optimal) monotonically improve: the set of pages in m frames is always a strict subset of m+1 frames (M(m) ⊆ M(m+1)).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Distributed Block Cache: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Nodes maintain in-memory block cache (LRU/FIFO) to accelerate repeated file block reads across cluster nodes.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Telemetry Metrics: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Tracks Cache Hits, Misses, Hit Ratio %, Capacity, and cached block keys in real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DISTRIBUTED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Ricart-Agrawala Mutual Exclusion &amp; Distributed Leases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Ricart-Agrawala Mutual Exclusion over RPC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Decentralized Peer-to-Peer Protocol: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Eliminates single point of failure and bottleneck of centralized lock coordinators.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Message Complexity: Exactly 2(N-1):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Each entry requires (N-1) REQUESTs and (N-1) REPLYs. Outperforms Lamport's algorithm (3(N-1) messages).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Lamport Logical Clocks Ordering: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Requests timestamped with Lamport clock T. Lower timestamp wins entry; conflicting nodes defer replies until releasing CS.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Live Cluster RPC Trace: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Executes real inter-node TCP-JSON RPC messages between worker workstations with deferred reply queueing.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Distributed Leases &amp; Classical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Distributed Lock Manager (DLM):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Named resource leases (e.g. file:/report.txt) with lease expiration and automatic revocation upon node crash.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Readers-Writers Starvation Demo: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Contrasts Courtois Reader-Preference (writer starvation under continuous reads) with Writer-Preference (fair progress).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Dining Philosophers Problem: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Demonstrates naive circular wait deadlock vs Dijkstra's Resource Hierarchy total ordering (breaks circular wait).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Mutex &amp; Storage Race Conditions: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Demonstrates lost updates under unsynchronized concurrent increments vs thread-safe mutex synchronization.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DISTRIBUTED STORAGE &amp;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Block Distributed File System &amp; Conflict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Block Architecture &amp; Pipelined Replication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64 KB Block Chunking: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Large files split into 64 KB content-addressed blocks for parallel multi-node storage and I/O efficiency.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2x Pipelined Replication (RF=2):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Blocks written across worker nodes in an ordered pipeline, ensuring zero data loss upon single-node failure.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SHA-256 Checksum Scrubbing: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Every block is hashed on write. Background scrubber verifies hashes across nodes to detect bit-rot or tampering.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Self-Healing Re-replication: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Corrupt or missing replicas are automatically rebuilt from healthy surviving copies without manual intervention.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Collaborative Sync &amp; Vector Clocks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Optimistic Concurrency Control: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Saving from an older file version is rejected as CONFLICT to prevent silent overwrite of teammate edits.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Fidge-Mattern Vector Clocks: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Events stamped with vector clocks (VC) tracking causal history across nodes and distinguishing concurrent edits (A || B).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Dropbox-Style Conflict Copies: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When concurrent offline edits collide, both copies are preserved (e.g. `report (conflict node-2 T=14).txt`) with zero data loss.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Rsync Delta Transfers: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Only modified 64 KB block chunks are transferred over the network, achieving 50%+ bandwidth savings vs full file copies.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FAULT TOLERANCE &amp;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Node Failure &amp; Recovery + IPC &amp; RPC Micro-Benchmarks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Worker Node Fault Tolerance &amp;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3-State Failure Detector: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Heartbeat period: 2.0s. Missed &gt;4.0s → SUSPECT. Missed &gt;6.0s → OFFLINE eviction.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Automated Task Migration: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When node-2 crashes, the Coordinator reschedules its active/waiting tasks to surviving nodes (node-1 or node-3).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Live Status Synchronization: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Simulating failure updates Online Nodes from 3/3 → 2/3 immediately on System Overview and Node Monitor.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Seamless Node Healing: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Reconnected node re-registers; status returns to 3/3 ONLINE; cluster resource capacity vector is restored.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5488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850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IPC &amp; RPC Micro-Benchmarks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IPC: Sockets vs Shared Memory: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Loopback TCP Sockets require user-to-kernel buffer copies. Zero-copy POSIX Shared Memory maps physical RAM directly, achieving 5.5x lower latency and multi-GB/s throughput.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RPC: TCP-JSON vs gRPC HTTP/2: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Compares text JSON over stream sockets with binary Protocol Buffers over multiplexed HTTP/2. gRPC achieves 2.4x higher throughput and lower serialization overhead.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Linux Cgroup Memory Isolation: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Aggressive memory leakers are intercepted and terminated by OOM killer (exit 137) without crashing sibling cluster nodes.</a:t>
            </a:r>
          </a:p>
          <a:p>
            <a:pPr>
              <a:spcAft>
                <a:spcPts val="400"/>
              </a:spcAft>
              <a:defRPr b="1" sz="1150">
                <a:solidFill>
                  <a:srgbClr val="FFFFFF"/>
                </a:solidFill>
              </a:defRPr>
            </a:pPr>
            <a:r>
              <a:t>• Dual-Clock Telemetry:</a:t>
            </a:r>
            <a:br/>
            <a:r>
              <a:t>  </a:t>
            </a:r>
            <a:r>
              <a:rPr b="0" sz="1100">
                <a:solidFill>
                  <a:srgbClr val="94A3B8"/>
                </a:solidFill>
              </a:rPr>
              <a:t>Every RPC message and log entry is tagged with Lamport logical time (T) and Fidge-Mattern Vector Clock (VC).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9728" cy="22860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SUMMARY OF ACHIEVEMENTS &amp; CONTRIBUTIONS</a:t>
            </a:r>
          </a:p>
          <a:p>
            <a:pPr>
              <a:spcAft>
                <a:spcPts val="400"/>
              </a:spcAft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Questions &amp; Answers | Demonstrations Available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3474720" cy="237744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1148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Comprehensive OSDS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310896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Bridges classical single-host OS algorithms (Banker's, Belady's, Gantt scheduling) with modern distributed systems (Ricart-Agrawala, DFS replication, Vector Clocks).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931920"/>
            <a:ext cx="3474720" cy="237744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Engineering Rigor &amp;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480560"/>
            <a:ext cx="310896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76/76 unit &amp; integration tests passing · Complete 8-scene automated walkthrough (`demo/lab_day.py`) · Micro-benchmarks for IPC and RPC transports.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931920"/>
            <a:ext cx="3474720" cy="2377440"/>
          </a:xfrm>
          <a:prstGeom prst="roundRect">
            <a:avLst/>
          </a:prstGeom>
          <a:solidFill>
            <a:srgbClr val="162038"/>
          </a:solidFill>
          <a:ln w="19050">
            <a:solidFill>
              <a:srgbClr val="26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41148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Production Lab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4480560"/>
            <a:ext cx="310896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Single-command master launcher (`python app.py`) across local workstations, cloud deployment on Render, and dark-theme real-time control center.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